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notesMasterIdLst>
    <p:notesMasterId r:id="rId21"/>
  </p:notesMasterIdLst>
  <p:sldIdLst>
    <p:sldId id="256" r:id="rId2"/>
    <p:sldId id="275" r:id="rId3"/>
    <p:sldId id="257" r:id="rId4"/>
    <p:sldId id="258" r:id="rId5"/>
    <p:sldId id="259" r:id="rId6"/>
    <p:sldId id="260" r:id="rId7"/>
    <p:sldId id="261" r:id="rId8"/>
    <p:sldId id="262" r:id="rId9"/>
    <p:sldId id="263" r:id="rId10"/>
    <p:sldId id="264" r:id="rId11"/>
    <p:sldId id="265" r:id="rId12"/>
    <p:sldId id="266" r:id="rId13"/>
    <p:sldId id="274" r:id="rId14"/>
    <p:sldId id="270" r:id="rId15"/>
    <p:sldId id="269" r:id="rId16"/>
    <p:sldId id="267" r:id="rId17"/>
    <p:sldId id="268" r:id="rId18"/>
    <p:sldId id="271"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96" autoAdjust="0"/>
    <p:restoredTop sz="94653"/>
  </p:normalViewPr>
  <p:slideViewPr>
    <p:cSldViewPr snapToGrid="0">
      <p:cViewPr>
        <p:scale>
          <a:sx n="136" d="100"/>
          <a:sy n="136" d="100"/>
        </p:scale>
        <p:origin x="696" y="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EBBEF1-F3AE-4F99-BA25-76953A6CA515}" type="datetimeFigureOut">
              <a:rPr lang="en-IN" smtClean="0"/>
              <a:t>02/02/26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C8890-3356-4D4D-9059-F914C2BFC475}" type="slidenum">
              <a:rPr lang="en-IN" smtClean="0"/>
              <a:t>‹#›</a:t>
            </a:fld>
            <a:endParaRPr lang="en-IN"/>
          </a:p>
        </p:txBody>
      </p:sp>
    </p:spTree>
    <p:extLst>
      <p:ext uri="{BB962C8B-B14F-4D97-AF65-F5344CB8AC3E}">
        <p14:creationId xmlns:p14="http://schemas.microsoft.com/office/powerpoint/2010/main" val="43715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42C8890-3356-4D4D-9059-F914C2BFC475}" type="slidenum">
              <a:rPr lang="en-IN" smtClean="0"/>
              <a:t>5</a:t>
            </a:fld>
            <a:endParaRPr lang="en-IN"/>
          </a:p>
        </p:txBody>
      </p:sp>
    </p:spTree>
    <p:extLst>
      <p:ext uri="{BB962C8B-B14F-4D97-AF65-F5344CB8AC3E}">
        <p14:creationId xmlns:p14="http://schemas.microsoft.com/office/powerpoint/2010/main" val="1755144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2C8890-3356-4D4D-9059-F914C2BFC475}" type="slidenum">
              <a:rPr lang="en-IN" smtClean="0"/>
              <a:t>13</a:t>
            </a:fld>
            <a:endParaRPr lang="en-IN"/>
          </a:p>
        </p:txBody>
      </p:sp>
    </p:spTree>
    <p:extLst>
      <p:ext uri="{BB962C8B-B14F-4D97-AF65-F5344CB8AC3E}">
        <p14:creationId xmlns:p14="http://schemas.microsoft.com/office/powerpoint/2010/main" val="418753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2C8890-3356-4D4D-9059-F914C2BFC475}" type="slidenum">
              <a:rPr lang="en-IN" smtClean="0"/>
              <a:t>15</a:t>
            </a:fld>
            <a:endParaRPr lang="en-IN"/>
          </a:p>
        </p:txBody>
      </p:sp>
    </p:spTree>
    <p:extLst>
      <p:ext uri="{BB962C8B-B14F-4D97-AF65-F5344CB8AC3E}">
        <p14:creationId xmlns:p14="http://schemas.microsoft.com/office/powerpoint/2010/main" val="74089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2C8890-3356-4D4D-9059-F914C2BFC475}" type="slidenum">
              <a:rPr lang="en-IN" smtClean="0"/>
              <a:t>16</a:t>
            </a:fld>
            <a:endParaRPr lang="en-IN"/>
          </a:p>
        </p:txBody>
      </p:sp>
    </p:spTree>
    <p:extLst>
      <p:ext uri="{BB962C8B-B14F-4D97-AF65-F5344CB8AC3E}">
        <p14:creationId xmlns:p14="http://schemas.microsoft.com/office/powerpoint/2010/main" val="1040349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2807502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4041928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170660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770BE7-8626-4605-BAD9-122E258409C2}" type="datetimeFigureOut">
              <a:rPr lang="en-IN" smtClean="0"/>
              <a:t>02/02/26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297579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770BE7-8626-4605-BAD9-122E258409C2}" type="datetimeFigureOut">
              <a:rPr lang="en-IN" smtClean="0"/>
              <a:t>02/02/26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2740665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770BE7-8626-4605-BAD9-122E258409C2}" type="datetimeFigureOut">
              <a:rPr lang="en-IN" smtClean="0"/>
              <a:t>02/02/26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2177252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770BE7-8626-4605-BAD9-122E258409C2}" type="datetimeFigureOut">
              <a:rPr lang="en-IN" smtClean="0"/>
              <a:t>02/02/26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549161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770BE7-8626-4605-BAD9-122E258409C2}" type="datetimeFigureOut">
              <a:rPr lang="en-IN" smtClean="0"/>
              <a:t>02/02/26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1799973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55E34-21C3-46D5-9191-6623B956AEE4}" type="slidenum">
              <a:rPr lang="en-IN" smtClean="0"/>
              <a:t>‹#›</a:t>
            </a:fld>
            <a:endParaRPr lang="en-IN"/>
          </a:p>
        </p:txBody>
      </p:sp>
      <p:sp>
        <p:nvSpPr>
          <p:cNvPr id="5" name="Date Placeholder 4"/>
          <p:cNvSpPr>
            <a:spLocks noGrp="1"/>
          </p:cNvSpPr>
          <p:nvPr>
            <p:ph type="dt" sz="half" idx="10"/>
          </p:nvPr>
        </p:nvSpPr>
        <p:spPr/>
        <p:txBody>
          <a:bodyPr/>
          <a:lstStyle/>
          <a:p>
            <a:fld id="{BC770BE7-8626-4605-BAD9-122E258409C2}" type="datetimeFigureOut">
              <a:rPr lang="en-IN" smtClean="0"/>
              <a:t>02/02/26</a:t>
            </a:fld>
            <a:endParaRPr lang="en-IN"/>
          </a:p>
        </p:txBody>
      </p:sp>
    </p:spTree>
    <p:extLst>
      <p:ext uri="{BB962C8B-B14F-4D97-AF65-F5344CB8AC3E}">
        <p14:creationId xmlns:p14="http://schemas.microsoft.com/office/powerpoint/2010/main" val="88022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512493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45817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581292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9269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1944575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1987864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70BE7-8626-4605-BAD9-122E258409C2}" type="datetimeFigureOut">
              <a:rPr lang="en-IN" smtClean="0"/>
              <a:t>02/02/26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55E34-21C3-46D5-9191-6623B956AEE4}" type="slidenum">
              <a:rPr lang="en-IN" smtClean="0"/>
              <a:t>‹#›</a:t>
            </a:fld>
            <a:endParaRPr lang="en-IN"/>
          </a:p>
        </p:txBody>
      </p:sp>
    </p:spTree>
    <p:extLst>
      <p:ext uri="{BB962C8B-B14F-4D97-AF65-F5344CB8AC3E}">
        <p14:creationId xmlns:p14="http://schemas.microsoft.com/office/powerpoint/2010/main" val="2502753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770BE7-8626-4605-BAD9-122E258409C2}" type="datetimeFigureOut">
              <a:rPr lang="en-IN" smtClean="0"/>
              <a:t>02/02/26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4555E34-21C3-46D5-9191-6623B956AEE4}" type="slidenum">
              <a:rPr lang="en-IN" smtClean="0"/>
              <a:t>‹#›</a:t>
            </a:fld>
            <a:endParaRPr lang="en-IN"/>
          </a:p>
        </p:txBody>
      </p:sp>
    </p:spTree>
    <p:extLst>
      <p:ext uri="{BB962C8B-B14F-4D97-AF65-F5344CB8AC3E}">
        <p14:creationId xmlns:p14="http://schemas.microsoft.com/office/powerpoint/2010/main" val="575349799"/>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3F2C8-312D-4A59-20F8-97A406B0E226}"/>
              </a:ext>
            </a:extLst>
          </p:cNvPr>
          <p:cNvSpPr>
            <a:spLocks noGrp="1"/>
          </p:cNvSpPr>
          <p:nvPr>
            <p:ph type="ctrTitle"/>
          </p:nvPr>
        </p:nvSpPr>
        <p:spPr>
          <a:xfrm>
            <a:off x="487678" y="1098249"/>
            <a:ext cx="9927771" cy="1646302"/>
          </a:xfrm>
        </p:spPr>
        <p:txBody>
          <a:bodyPr/>
          <a:lstStyle/>
          <a:p>
            <a:pPr algn="ctr"/>
            <a:r>
              <a:rPr lang="en-US" sz="4800" b="1" dirty="0"/>
              <a:t>DeepSecure: AI Powered IDS for Real-Time Network Traffic</a:t>
            </a:r>
            <a:endParaRPr lang="en-IN" sz="4800" b="1" dirty="0"/>
          </a:p>
        </p:txBody>
      </p:sp>
      <p:sp>
        <p:nvSpPr>
          <p:cNvPr id="3" name="Subtitle 2">
            <a:extLst>
              <a:ext uri="{FF2B5EF4-FFF2-40B4-BE49-F238E27FC236}">
                <a16:creationId xmlns:a16="http://schemas.microsoft.com/office/drawing/2014/main" id="{B8199091-EBF4-08B8-8BFB-A39513DAE8BF}"/>
              </a:ext>
            </a:extLst>
          </p:cNvPr>
          <p:cNvSpPr>
            <a:spLocks noGrp="1"/>
          </p:cNvSpPr>
          <p:nvPr>
            <p:ph type="subTitle" idx="1"/>
          </p:nvPr>
        </p:nvSpPr>
        <p:spPr>
          <a:xfrm>
            <a:off x="159487" y="5614797"/>
            <a:ext cx="4001277" cy="1096899"/>
          </a:xfrm>
        </p:spPr>
        <p:txBody>
          <a:bodyPr/>
          <a:lstStyle/>
          <a:p>
            <a:r>
              <a:rPr lang="en-IN" dirty="0">
                <a:solidFill>
                  <a:schemeClr val="tx1"/>
                </a:solidFill>
              </a:rPr>
              <a:t>BY: RAMANSH VASANIA (22BCI0196)</a:t>
            </a:r>
          </a:p>
          <a:p>
            <a:r>
              <a:rPr lang="en-IN" dirty="0">
                <a:solidFill>
                  <a:schemeClr val="tx1"/>
                </a:solidFill>
              </a:rPr>
              <a:t>RAVIPATI ANAGHA (22BCI0228)</a:t>
            </a:r>
          </a:p>
        </p:txBody>
      </p:sp>
      <p:sp>
        <p:nvSpPr>
          <p:cNvPr id="4" name="TextBox 3">
            <a:extLst>
              <a:ext uri="{FF2B5EF4-FFF2-40B4-BE49-F238E27FC236}">
                <a16:creationId xmlns:a16="http://schemas.microsoft.com/office/drawing/2014/main" id="{EB6CA8CC-F592-454D-A137-CE62D7EBE6A3}"/>
              </a:ext>
            </a:extLst>
          </p:cNvPr>
          <p:cNvSpPr txBox="1"/>
          <p:nvPr/>
        </p:nvSpPr>
        <p:spPr>
          <a:xfrm>
            <a:off x="2839492" y="2978332"/>
            <a:ext cx="5617885" cy="2017668"/>
          </a:xfrm>
          <a:prstGeom prst="rect">
            <a:avLst/>
          </a:prstGeom>
          <a:noFill/>
        </p:spPr>
        <p:txBody>
          <a:bodyPr wrap="none" rtlCol="0">
            <a:spAutoFit/>
          </a:bodyPr>
          <a:lstStyle/>
          <a:p>
            <a:pPr algn="ctr">
              <a:lnSpc>
                <a:spcPct val="150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 the Supervision of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en-IN" sz="1800" b="1" dirty="0" err="1">
                <a:effectLst/>
                <a:latin typeface="Times New Roman" panose="02020603050405020304" pitchFamily="18" charset="0"/>
                <a:ea typeface="Calibri" panose="020F0502020204030204" pitchFamily="34" charset="0"/>
                <a:cs typeface="Times New Roman" panose="02020603050405020304" pitchFamily="18" charset="0"/>
              </a:rPr>
              <a:t>Dr.</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Jim Solomon Raja 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Assistant Professor Sr. Grade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School of Computer Science and Engineering (SCOPE)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94531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8289B81-1293-BC46-BAF7-7CABB6AEA58F}"/>
              </a:ext>
            </a:extLst>
          </p:cNvPr>
          <p:cNvPicPr>
            <a:picLocks noGrp="1" noChangeAspect="1"/>
          </p:cNvPicPr>
          <p:nvPr>
            <p:ph idx="1"/>
          </p:nvPr>
        </p:nvPicPr>
        <p:blipFill>
          <a:blip r:embed="rId2"/>
          <a:stretch>
            <a:fillRect/>
          </a:stretch>
        </p:blipFill>
        <p:spPr>
          <a:xfrm>
            <a:off x="2121031" y="189425"/>
            <a:ext cx="5920033" cy="6479149"/>
          </a:xfrm>
          <a:prstGeom prst="rect">
            <a:avLst/>
          </a:prstGeom>
        </p:spPr>
      </p:pic>
    </p:spTree>
    <p:extLst>
      <p:ext uri="{BB962C8B-B14F-4D97-AF65-F5344CB8AC3E}">
        <p14:creationId xmlns:p14="http://schemas.microsoft.com/office/powerpoint/2010/main" val="292398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5B48-AA3D-5516-6701-D669FAE083E3}"/>
              </a:ext>
            </a:extLst>
          </p:cNvPr>
          <p:cNvSpPr>
            <a:spLocks noGrp="1"/>
          </p:cNvSpPr>
          <p:nvPr>
            <p:ph type="title"/>
          </p:nvPr>
        </p:nvSpPr>
        <p:spPr/>
        <p:txBody>
          <a:bodyPr>
            <a:normAutofit/>
          </a:bodyPr>
          <a:lstStyle/>
          <a:p>
            <a:pPr algn="ctr"/>
            <a:r>
              <a:rPr lang="en-IN" sz="4400" b="1" dirty="0"/>
              <a:t>INTRODUCTION</a:t>
            </a:r>
          </a:p>
        </p:txBody>
      </p:sp>
      <p:sp>
        <p:nvSpPr>
          <p:cNvPr id="3" name="Content Placeholder 2">
            <a:extLst>
              <a:ext uri="{FF2B5EF4-FFF2-40B4-BE49-F238E27FC236}">
                <a16:creationId xmlns:a16="http://schemas.microsoft.com/office/drawing/2014/main" id="{CC2E40B3-1F63-3D63-A0B5-D312F9E38991}"/>
              </a:ext>
            </a:extLst>
          </p:cNvPr>
          <p:cNvSpPr>
            <a:spLocks noGrp="1"/>
          </p:cNvSpPr>
          <p:nvPr>
            <p:ph idx="1"/>
          </p:nvPr>
        </p:nvSpPr>
        <p:spPr>
          <a:xfrm>
            <a:off x="677334" y="2073504"/>
            <a:ext cx="9093683" cy="4550580"/>
          </a:xfrm>
        </p:spPr>
        <p:txBody>
          <a:bodyPr>
            <a:normAutofit/>
          </a:bodyPr>
          <a:lstStyle/>
          <a:p>
            <a:pPr marL="0" indent="0" algn="ctr">
              <a:lnSpc>
                <a:spcPct val="150000"/>
              </a:lnSpc>
              <a:buNone/>
            </a:pPr>
            <a:r>
              <a:rPr lang="en-US" b="1" dirty="0">
                <a:solidFill>
                  <a:schemeClr val="tx1"/>
                </a:solidFill>
              </a:rPr>
              <a:t>Securing Modern Networks in the Age of Cyber Threats</a:t>
            </a:r>
            <a:endParaRPr lang="en-US" dirty="0">
              <a:solidFill>
                <a:schemeClr val="tx1"/>
              </a:solidFill>
            </a:endParaRPr>
          </a:p>
          <a:p>
            <a:pPr marL="0" indent="0">
              <a:lnSpc>
                <a:spcPct val="150000"/>
              </a:lnSpc>
              <a:buNone/>
            </a:pPr>
            <a:r>
              <a:rPr lang="en-US" dirty="0">
                <a:solidFill>
                  <a:schemeClr val="tx1"/>
                </a:solidFill>
              </a:rPr>
              <a:t>Modern digital systems have grown rapidly with cloud computing, online services, and interconnected networks becoming essential to everyday operations. While this connectivity improves efficiency, it also increases exposure to cyber threats such as unauthorized access, malware, denial-of-service attacks, and zero-day vulnerabilities.</a:t>
            </a:r>
          </a:p>
          <a:p>
            <a:pPr marL="0" indent="0">
              <a:lnSpc>
                <a:spcPct val="150000"/>
              </a:lnSpc>
              <a:buNone/>
            </a:pPr>
            <a:r>
              <a:rPr lang="en-US" dirty="0">
                <a:solidFill>
                  <a:schemeClr val="tx1"/>
                </a:solidFill>
              </a:rPr>
              <a:t>As attack techniques continue to evolve in complexity and frequency, organizations require intelligent security mechanisms capable of continuously monitoring network traffic and identifying suspicious behavior before significant damage occurs.</a:t>
            </a:r>
          </a:p>
        </p:txBody>
      </p:sp>
    </p:spTree>
    <p:extLst>
      <p:ext uri="{BB962C8B-B14F-4D97-AF65-F5344CB8AC3E}">
        <p14:creationId xmlns:p14="http://schemas.microsoft.com/office/powerpoint/2010/main" val="388671105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B0CA8C-9A22-FF76-39B6-88B37416D805}"/>
              </a:ext>
            </a:extLst>
          </p:cNvPr>
          <p:cNvSpPr>
            <a:spLocks noGrp="1"/>
          </p:cNvSpPr>
          <p:nvPr>
            <p:ph idx="1"/>
          </p:nvPr>
        </p:nvSpPr>
        <p:spPr>
          <a:xfrm>
            <a:off x="677334" y="1594884"/>
            <a:ext cx="8980472" cy="4788499"/>
          </a:xfrm>
        </p:spPr>
        <p:txBody>
          <a:bodyPr>
            <a:normAutofit/>
          </a:bodyPr>
          <a:lstStyle/>
          <a:p>
            <a:pPr marL="0" indent="0" algn="ctr">
              <a:lnSpc>
                <a:spcPct val="150000"/>
              </a:lnSpc>
              <a:buNone/>
            </a:pPr>
            <a:r>
              <a:rPr lang="en-US" b="1" dirty="0">
                <a:solidFill>
                  <a:schemeClr val="tx1"/>
                </a:solidFill>
              </a:rPr>
              <a:t>Limitations of Traditional IDS and Need for AI</a:t>
            </a:r>
            <a:endParaRPr lang="en-US" dirty="0">
              <a:solidFill>
                <a:schemeClr val="tx1"/>
              </a:solidFill>
            </a:endParaRPr>
          </a:p>
          <a:p>
            <a:pPr marL="0" indent="0">
              <a:lnSpc>
                <a:spcPct val="150000"/>
              </a:lnSpc>
              <a:buNone/>
            </a:pPr>
            <a:r>
              <a:rPr lang="en-US" dirty="0">
                <a:solidFill>
                  <a:schemeClr val="tx1"/>
                </a:solidFill>
              </a:rPr>
              <a:t>Traditional Intrusion Detection Systems rely on static rules and known attack signatures to detect malicious activities. Although effective for previously identified threats, these systems struggle to recognize new and evolving attack patterns.</a:t>
            </a:r>
          </a:p>
          <a:p>
            <a:pPr marL="0" indent="0">
              <a:lnSpc>
                <a:spcPct val="150000"/>
              </a:lnSpc>
              <a:buNone/>
            </a:pPr>
            <a:r>
              <a:rPr lang="en-US" dirty="0">
                <a:solidFill>
                  <a:schemeClr val="tx1"/>
                </a:solidFill>
              </a:rPr>
              <a:t>Artificial Intelligence introduces a behavioral detection approach, where machine learning models learn patterns of normal and abnormal traffic from historical data. This allows modern IDS solutions to adapt to new threats, detect anomalies, and significantly improve detection accuracy and responsiveness.</a:t>
            </a:r>
          </a:p>
          <a:p>
            <a:pPr marL="0" indent="0">
              <a:lnSpc>
                <a:spcPct val="150000"/>
              </a:lnSpc>
              <a:buNone/>
            </a:pPr>
            <a:endParaRPr lang="en-IN" dirty="0"/>
          </a:p>
        </p:txBody>
      </p:sp>
    </p:spTree>
    <p:extLst>
      <p:ext uri="{BB962C8B-B14F-4D97-AF65-F5344CB8AC3E}">
        <p14:creationId xmlns:p14="http://schemas.microsoft.com/office/powerpoint/2010/main" val="2416975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43774-F47E-BDE1-629D-7B29770668FF}"/>
              </a:ext>
            </a:extLst>
          </p:cNvPr>
          <p:cNvSpPr>
            <a:spLocks noGrp="1"/>
          </p:cNvSpPr>
          <p:nvPr>
            <p:ph type="title"/>
          </p:nvPr>
        </p:nvSpPr>
        <p:spPr/>
        <p:txBody>
          <a:bodyPr>
            <a:normAutofit/>
          </a:bodyPr>
          <a:lstStyle/>
          <a:p>
            <a:pPr algn="ctr"/>
            <a:r>
              <a:rPr lang="en-IN" sz="4400" b="1" dirty="0"/>
              <a:t>PROBLEM STATEMENT </a:t>
            </a:r>
          </a:p>
        </p:txBody>
      </p:sp>
      <p:sp>
        <p:nvSpPr>
          <p:cNvPr id="3" name="Content Placeholder 2">
            <a:extLst>
              <a:ext uri="{FF2B5EF4-FFF2-40B4-BE49-F238E27FC236}">
                <a16:creationId xmlns:a16="http://schemas.microsoft.com/office/drawing/2014/main" id="{E4D65D68-D0AE-3CE3-0F20-DA7873743A39}"/>
              </a:ext>
            </a:extLst>
          </p:cNvPr>
          <p:cNvSpPr>
            <a:spLocks noGrp="1"/>
          </p:cNvSpPr>
          <p:nvPr>
            <p:ph idx="1"/>
          </p:nvPr>
        </p:nvSpPr>
        <p:spPr>
          <a:xfrm>
            <a:off x="677334" y="1707116"/>
            <a:ext cx="9030192" cy="5033926"/>
          </a:xfrm>
        </p:spPr>
        <p:txBody>
          <a:bodyPr>
            <a:noAutofit/>
          </a:bodyPr>
          <a:lstStyle/>
          <a:p>
            <a:pPr marL="0" indent="0">
              <a:lnSpc>
                <a:spcPct val="150000"/>
              </a:lnSpc>
              <a:buNone/>
            </a:pPr>
            <a:r>
              <a:rPr lang="en-US" dirty="0">
                <a:solidFill>
                  <a:schemeClr val="tx1"/>
                </a:solidFill>
              </a:rPr>
              <a:t>Despite advancements in AI-based intrusion detection, many existing systems remain impractical for real-world use. Traditional IDS rely on static signatures and fail to detect unknown attacks, while modern AI-driven solutions often use complex deep learning models that require high computational resources.</a:t>
            </a:r>
          </a:p>
          <a:p>
            <a:pPr marL="0" indent="0">
              <a:lnSpc>
                <a:spcPct val="150000"/>
              </a:lnSpc>
              <a:buNone/>
            </a:pPr>
            <a:r>
              <a:rPr lang="en-US" dirty="0">
                <a:solidFill>
                  <a:schemeClr val="tx1"/>
                </a:solidFill>
              </a:rPr>
              <a:t>Most approaches focus on offline accuracy rather than real-time detection, and their outputs lack interpretability for network administrators. Additionally, detection, alerting, and visualization are often developed separately, resulting in fragmented security systems.</a:t>
            </a:r>
          </a:p>
          <a:p>
            <a:pPr marL="0" indent="0">
              <a:lnSpc>
                <a:spcPct val="150000"/>
              </a:lnSpc>
              <a:buNone/>
            </a:pPr>
            <a:r>
              <a:rPr lang="en-US" dirty="0">
                <a:solidFill>
                  <a:schemeClr val="tx1"/>
                </a:solidFill>
              </a:rPr>
              <a:t>Therefore, there is a need for a lightweight, real-time, and interpretable AI-based intrusion detection system that balances detection performance with practical usability.</a:t>
            </a:r>
          </a:p>
        </p:txBody>
      </p:sp>
    </p:spTree>
    <p:extLst>
      <p:ext uri="{BB962C8B-B14F-4D97-AF65-F5344CB8AC3E}">
        <p14:creationId xmlns:p14="http://schemas.microsoft.com/office/powerpoint/2010/main" val="2345563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07C7F-429B-4F7B-2F3E-458721E973A8}"/>
              </a:ext>
            </a:extLst>
          </p:cNvPr>
          <p:cNvSpPr>
            <a:spLocks noGrp="1"/>
          </p:cNvSpPr>
          <p:nvPr>
            <p:ph type="title"/>
          </p:nvPr>
        </p:nvSpPr>
        <p:spPr/>
        <p:txBody>
          <a:bodyPr>
            <a:normAutofit/>
          </a:bodyPr>
          <a:lstStyle/>
          <a:p>
            <a:pPr algn="ctr"/>
            <a:r>
              <a:rPr lang="en-IN" sz="4400" b="1" dirty="0"/>
              <a:t>RESEARCH OBJECTIVE</a:t>
            </a:r>
          </a:p>
        </p:txBody>
      </p:sp>
      <p:sp>
        <p:nvSpPr>
          <p:cNvPr id="3" name="Content Placeholder 2">
            <a:extLst>
              <a:ext uri="{FF2B5EF4-FFF2-40B4-BE49-F238E27FC236}">
                <a16:creationId xmlns:a16="http://schemas.microsoft.com/office/drawing/2014/main" id="{94E53E1F-EF37-E5AA-7D1E-781B9D1446C1}"/>
              </a:ext>
            </a:extLst>
          </p:cNvPr>
          <p:cNvSpPr>
            <a:spLocks noGrp="1"/>
          </p:cNvSpPr>
          <p:nvPr>
            <p:ph idx="1"/>
          </p:nvPr>
        </p:nvSpPr>
        <p:spPr>
          <a:xfrm>
            <a:off x="1102636" y="1930400"/>
            <a:ext cx="8891968" cy="4431597"/>
          </a:xfrm>
        </p:spPr>
        <p:txBody>
          <a:bodyPr>
            <a:normAutofit/>
          </a:bodyPr>
          <a:lstStyle/>
          <a:p>
            <a:pPr marL="0" indent="0">
              <a:lnSpc>
                <a:spcPct val="150000"/>
              </a:lnSpc>
              <a:buNone/>
            </a:pPr>
            <a:r>
              <a:rPr lang="en-US" dirty="0">
                <a:solidFill>
                  <a:schemeClr val="tx1"/>
                </a:solidFill>
              </a:rPr>
              <a:t>The primary aim of this project is to design a practical AI-powered Intrusion Detection System that balances accuracy with real-world usability.</a:t>
            </a:r>
          </a:p>
          <a:p>
            <a:pPr marL="0" indent="0">
              <a:lnSpc>
                <a:spcPct val="150000"/>
              </a:lnSpc>
              <a:buNone/>
            </a:pPr>
            <a:r>
              <a:rPr lang="en-US" dirty="0">
                <a:solidFill>
                  <a:schemeClr val="tx1"/>
                </a:solidFill>
              </a:rPr>
              <a:t>The system focuses on implementing efficient machine learning models for detecting malicious network traffic while maintaining low computational complexity. It aims to enable near real-time intrusion detection, improve alert interpretability, integrate detection and visualization into a single framework, and support adaptability across different intrusion detection datasets.</a:t>
            </a:r>
          </a:p>
          <a:p>
            <a:pPr marL="0" indent="0">
              <a:lnSpc>
                <a:spcPct val="150000"/>
              </a:lnSpc>
              <a:buNone/>
            </a:pPr>
            <a:endParaRPr lang="en-IN" dirty="0"/>
          </a:p>
        </p:txBody>
      </p:sp>
    </p:spTree>
    <p:extLst>
      <p:ext uri="{BB962C8B-B14F-4D97-AF65-F5344CB8AC3E}">
        <p14:creationId xmlns:p14="http://schemas.microsoft.com/office/powerpoint/2010/main" val="3806403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21AEC-490E-725A-3995-BB9EEDBEEED9}"/>
              </a:ext>
            </a:extLst>
          </p:cNvPr>
          <p:cNvSpPr>
            <a:spLocks noGrp="1"/>
          </p:cNvSpPr>
          <p:nvPr>
            <p:ph type="title"/>
          </p:nvPr>
        </p:nvSpPr>
        <p:spPr/>
        <p:txBody>
          <a:bodyPr>
            <a:normAutofit/>
          </a:bodyPr>
          <a:lstStyle/>
          <a:p>
            <a:pPr algn="ctr"/>
            <a:r>
              <a:rPr lang="en-IN" sz="4400" b="1" dirty="0"/>
              <a:t>PROPOSED SYSTEM OVERVIEW</a:t>
            </a:r>
          </a:p>
        </p:txBody>
      </p:sp>
      <p:sp>
        <p:nvSpPr>
          <p:cNvPr id="3" name="Content Placeholder 2">
            <a:extLst>
              <a:ext uri="{FF2B5EF4-FFF2-40B4-BE49-F238E27FC236}">
                <a16:creationId xmlns:a16="http://schemas.microsoft.com/office/drawing/2014/main" id="{08C2E391-37CA-D596-F2BE-E8EB810ABACF}"/>
              </a:ext>
            </a:extLst>
          </p:cNvPr>
          <p:cNvSpPr>
            <a:spLocks noGrp="1"/>
          </p:cNvSpPr>
          <p:nvPr>
            <p:ph idx="1"/>
          </p:nvPr>
        </p:nvSpPr>
        <p:spPr>
          <a:xfrm>
            <a:off x="677334" y="1930400"/>
            <a:ext cx="9168415" cy="4750575"/>
          </a:xfrm>
        </p:spPr>
        <p:txBody>
          <a:bodyPr>
            <a:normAutofit/>
          </a:bodyPr>
          <a:lstStyle/>
          <a:p>
            <a:pPr marL="0" indent="0" algn="ctr">
              <a:lnSpc>
                <a:spcPct val="150000"/>
              </a:lnSpc>
              <a:buNone/>
            </a:pPr>
            <a:r>
              <a:rPr lang="en-US" b="1" dirty="0">
                <a:solidFill>
                  <a:schemeClr val="tx1"/>
                </a:solidFill>
              </a:rPr>
              <a:t>DeepSecure: AI-Based Intrusion Detection System</a:t>
            </a:r>
            <a:endParaRPr lang="en-US" dirty="0">
              <a:solidFill>
                <a:schemeClr val="tx1"/>
              </a:solidFill>
            </a:endParaRPr>
          </a:p>
          <a:p>
            <a:pPr marL="0" indent="0">
              <a:lnSpc>
                <a:spcPct val="150000"/>
              </a:lnSpc>
              <a:buNone/>
            </a:pPr>
            <a:r>
              <a:rPr lang="en-US" dirty="0">
                <a:solidFill>
                  <a:schemeClr val="tx1"/>
                </a:solidFill>
              </a:rPr>
              <a:t>DeepSecure is a machine learning-driven IDS designed to monitor and analyze network traffic for suspicious activities.</a:t>
            </a:r>
          </a:p>
          <a:p>
            <a:pPr marL="0" indent="0">
              <a:lnSpc>
                <a:spcPct val="150000"/>
              </a:lnSpc>
              <a:buNone/>
            </a:pPr>
            <a:r>
              <a:rPr lang="en-US" dirty="0">
                <a:solidFill>
                  <a:schemeClr val="tx1"/>
                </a:solidFill>
              </a:rPr>
              <a:t>The system is trained using the NSL-KDD dataset and utilizes lightweight classifiers such as Random Forest and Support Vector Machines to learn behavioral traffic patterns.</a:t>
            </a:r>
          </a:p>
          <a:p>
            <a:pPr marL="0" indent="0">
              <a:lnSpc>
                <a:spcPct val="150000"/>
              </a:lnSpc>
              <a:buNone/>
            </a:pPr>
            <a:r>
              <a:rPr lang="en-US" dirty="0">
                <a:solidFill>
                  <a:schemeClr val="tx1"/>
                </a:solidFill>
              </a:rPr>
              <a:t>Incoming traffic records are processed sequentially to simulate real-time detection, generating immediate alerts along with confidence scores. A simple visualization interface presents intrusion events clearly for effective monitoring and response.</a:t>
            </a:r>
          </a:p>
          <a:p>
            <a:pPr marL="0" indent="0">
              <a:buNone/>
            </a:pPr>
            <a:endParaRPr lang="en-IN" dirty="0"/>
          </a:p>
        </p:txBody>
      </p:sp>
    </p:spTree>
    <p:extLst>
      <p:ext uri="{BB962C8B-B14F-4D97-AF65-F5344CB8AC3E}">
        <p14:creationId xmlns:p14="http://schemas.microsoft.com/office/powerpoint/2010/main" val="1470648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FB4D2-6217-6F88-0074-9C4C341CF775}"/>
              </a:ext>
            </a:extLst>
          </p:cNvPr>
          <p:cNvSpPr>
            <a:spLocks noGrp="1"/>
          </p:cNvSpPr>
          <p:nvPr>
            <p:ph type="title"/>
          </p:nvPr>
        </p:nvSpPr>
        <p:spPr>
          <a:xfrm>
            <a:off x="773027" y="237462"/>
            <a:ext cx="8596668" cy="1320800"/>
          </a:xfrm>
        </p:spPr>
        <p:txBody>
          <a:bodyPr/>
          <a:lstStyle/>
          <a:p>
            <a:pPr algn="ctr"/>
            <a:r>
              <a:rPr lang="en-IN" b="1" dirty="0"/>
              <a:t>SYSTEM DIAGRAM</a:t>
            </a:r>
          </a:p>
        </p:txBody>
      </p:sp>
      <p:pic>
        <p:nvPicPr>
          <p:cNvPr id="5" name="Content Placeholder 4">
            <a:extLst>
              <a:ext uri="{FF2B5EF4-FFF2-40B4-BE49-F238E27FC236}">
                <a16:creationId xmlns:a16="http://schemas.microsoft.com/office/drawing/2014/main" id="{98F5E8D4-27F4-BF3D-3910-D714D96E74A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18" t="36196" r="-718" b="26915"/>
          <a:stretch>
            <a:fillRect/>
          </a:stretch>
        </p:blipFill>
        <p:spPr>
          <a:xfrm>
            <a:off x="627790" y="1243413"/>
            <a:ext cx="8887142" cy="2185587"/>
          </a:xfrm>
        </p:spPr>
      </p:pic>
      <p:pic>
        <p:nvPicPr>
          <p:cNvPr id="1026" name="Picture 2" descr="Network traffic analysis process (adapted from [76]). | Download ...">
            <a:extLst>
              <a:ext uri="{FF2B5EF4-FFF2-40B4-BE49-F238E27FC236}">
                <a16:creationId xmlns:a16="http://schemas.microsoft.com/office/drawing/2014/main" id="{F05F1560-3894-0088-A0D0-D7EF496E8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111" y="3598299"/>
            <a:ext cx="9084414" cy="3259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2585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80AE8-8AE8-BE1A-E100-AF3653CCB5D8}"/>
              </a:ext>
            </a:extLst>
          </p:cNvPr>
          <p:cNvSpPr>
            <a:spLocks noGrp="1"/>
          </p:cNvSpPr>
          <p:nvPr>
            <p:ph type="title"/>
          </p:nvPr>
        </p:nvSpPr>
        <p:spPr>
          <a:xfrm>
            <a:off x="826189" y="223285"/>
            <a:ext cx="8596668" cy="1320800"/>
          </a:xfrm>
        </p:spPr>
        <p:txBody>
          <a:bodyPr>
            <a:normAutofit/>
          </a:bodyPr>
          <a:lstStyle/>
          <a:p>
            <a:pPr algn="ctr"/>
            <a:r>
              <a:rPr lang="en-IN" sz="4400" b="1" dirty="0"/>
              <a:t>MODULES</a:t>
            </a:r>
          </a:p>
        </p:txBody>
      </p:sp>
      <p:sp>
        <p:nvSpPr>
          <p:cNvPr id="3" name="Content Placeholder 2">
            <a:extLst>
              <a:ext uri="{FF2B5EF4-FFF2-40B4-BE49-F238E27FC236}">
                <a16:creationId xmlns:a16="http://schemas.microsoft.com/office/drawing/2014/main" id="{CB24E58D-2E71-CCD4-9B57-873188F26660}"/>
              </a:ext>
            </a:extLst>
          </p:cNvPr>
          <p:cNvSpPr>
            <a:spLocks noGrp="1"/>
          </p:cNvSpPr>
          <p:nvPr>
            <p:ph idx="1"/>
          </p:nvPr>
        </p:nvSpPr>
        <p:spPr>
          <a:xfrm>
            <a:off x="203640" y="1647064"/>
            <a:ext cx="5756366" cy="5067245"/>
          </a:xfrm>
        </p:spPr>
        <p:txBody>
          <a:bodyPr>
            <a:normAutofit/>
          </a:bodyPr>
          <a:lstStyle/>
          <a:p>
            <a:pPr marL="0" indent="0">
              <a:lnSpc>
                <a:spcPct val="150000"/>
              </a:lnSpc>
              <a:buNone/>
            </a:pPr>
            <a:r>
              <a:rPr lang="en-US" sz="1600" b="1" dirty="0">
                <a:solidFill>
                  <a:schemeClr val="tx1"/>
                </a:solidFill>
              </a:rPr>
              <a:t>Module 1: Data Processing and Preparation</a:t>
            </a:r>
          </a:p>
          <a:p>
            <a:pPr marL="0" indent="0">
              <a:lnSpc>
                <a:spcPct val="150000"/>
              </a:lnSpc>
              <a:buNone/>
            </a:pPr>
            <a:r>
              <a:rPr lang="en-US" sz="1600" dirty="0">
                <a:solidFill>
                  <a:schemeClr val="tx1"/>
                </a:solidFill>
              </a:rPr>
              <a:t>This module is responsible for loading the NSL-KDD dataset and converting raw network traffic records into a structured format suitable for machine learning analysis. It performs data cleaning to remove inconsistencies and missing values, encodes categorical network attributes into numerical form, and normalizes continuous features to maintain uniform scales. The class labels are also simplified into normal and malicious categories to support binary classification. The output of this module is a clean, well-organized dataset that forms a reliable foundation for accurate intrusion detection.</a:t>
            </a:r>
          </a:p>
          <a:p>
            <a:pPr marL="0" indent="0">
              <a:buNone/>
            </a:pPr>
            <a:endParaRPr lang="en-IN" dirty="0"/>
          </a:p>
        </p:txBody>
      </p:sp>
      <p:pic>
        <p:nvPicPr>
          <p:cNvPr id="2050" name="Picture 2" descr="Mastering Data Preprocessing: A Practical Guide to Clean and ...">
            <a:extLst>
              <a:ext uri="{FF2B5EF4-FFF2-40B4-BE49-F238E27FC236}">
                <a16:creationId xmlns:a16="http://schemas.microsoft.com/office/drawing/2014/main" id="{3160E429-3BA2-D53C-E81C-3629050F31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75" r="2218"/>
          <a:stretch>
            <a:fillRect/>
          </a:stretch>
        </p:blipFill>
        <p:spPr bwMode="auto">
          <a:xfrm>
            <a:off x="6096000" y="1828800"/>
            <a:ext cx="5892360" cy="3976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31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BFD04A-DDE1-D373-FF40-23727FD9C2C9}"/>
              </a:ext>
            </a:extLst>
          </p:cNvPr>
          <p:cNvSpPr>
            <a:spLocks noGrp="1"/>
          </p:cNvSpPr>
          <p:nvPr>
            <p:ph idx="1"/>
          </p:nvPr>
        </p:nvSpPr>
        <p:spPr>
          <a:xfrm>
            <a:off x="625083" y="1707743"/>
            <a:ext cx="8596668" cy="3880773"/>
          </a:xfrm>
        </p:spPr>
        <p:txBody>
          <a:bodyPr>
            <a:normAutofit lnSpcReduction="10000"/>
          </a:bodyPr>
          <a:lstStyle/>
          <a:p>
            <a:pPr marL="0" indent="0">
              <a:lnSpc>
                <a:spcPct val="150000"/>
              </a:lnSpc>
              <a:buNone/>
            </a:pPr>
            <a:r>
              <a:rPr lang="en-US" b="1" dirty="0">
                <a:solidFill>
                  <a:schemeClr val="tx1"/>
                </a:solidFill>
              </a:rPr>
              <a:t>Module 2: Feature Optimization and Model Training</a:t>
            </a:r>
          </a:p>
          <a:p>
            <a:pPr marL="0" indent="0">
              <a:lnSpc>
                <a:spcPct val="150000"/>
              </a:lnSpc>
              <a:buNone/>
            </a:pPr>
            <a:r>
              <a:rPr lang="en-US" sz="1700" dirty="0">
                <a:solidFill>
                  <a:schemeClr val="tx1"/>
                </a:solidFill>
              </a:rPr>
              <a:t>In this module, the most relevant network traffic features( </a:t>
            </a:r>
            <a:r>
              <a:rPr lang="en-IN" sz="1700" dirty="0" err="1">
                <a:solidFill>
                  <a:schemeClr val="tx1"/>
                </a:solidFill>
                <a:effectLst/>
              </a:rPr>
              <a:t>src_ip</a:t>
            </a:r>
            <a:r>
              <a:rPr lang="en-IN" sz="1700" dirty="0">
                <a:solidFill>
                  <a:schemeClr val="tx1"/>
                </a:solidFill>
                <a:effectLst/>
              </a:rPr>
              <a:t>, </a:t>
            </a:r>
            <a:r>
              <a:rPr lang="en-IN" sz="1700" dirty="0" err="1">
                <a:solidFill>
                  <a:schemeClr val="tx1"/>
                </a:solidFill>
                <a:effectLst/>
              </a:rPr>
              <a:t>dst_ip</a:t>
            </a:r>
            <a:r>
              <a:rPr lang="en-IN" sz="1700" dirty="0">
                <a:solidFill>
                  <a:schemeClr val="tx1"/>
                </a:solidFill>
                <a:effectLst/>
              </a:rPr>
              <a:t>, protocol, duration, </a:t>
            </a:r>
            <a:r>
              <a:rPr lang="en-IN" sz="1700" dirty="0" err="1">
                <a:solidFill>
                  <a:schemeClr val="tx1"/>
                </a:solidFill>
                <a:effectLst/>
              </a:rPr>
              <a:t>src_bytes</a:t>
            </a:r>
            <a:r>
              <a:rPr lang="en-IN" sz="1700" dirty="0">
                <a:solidFill>
                  <a:schemeClr val="tx1"/>
                </a:solidFill>
                <a:effectLst/>
              </a:rPr>
              <a:t>, </a:t>
            </a:r>
            <a:r>
              <a:rPr lang="en-IN" sz="1700" dirty="0" err="1">
                <a:solidFill>
                  <a:schemeClr val="tx1"/>
                </a:solidFill>
                <a:effectLst/>
              </a:rPr>
              <a:t>dst_bytes</a:t>
            </a:r>
            <a:r>
              <a:rPr lang="en-IN" sz="1700" dirty="0">
                <a:solidFill>
                  <a:schemeClr val="tx1"/>
                </a:solidFill>
                <a:effectLst/>
              </a:rPr>
              <a:t>, count)</a:t>
            </a:r>
            <a:r>
              <a:rPr lang="en-US" sz="1700" dirty="0">
                <a:solidFill>
                  <a:schemeClr val="tx1"/>
                </a:solidFill>
              </a:rPr>
              <a:t> are identified using feature importance and selection techniques to eliminate redundancy and improve computational efficiency. The optimized feature set is then used to train machine learning models such as Random Forest and Support Vector Machines to recognize patterns associated with normal and malicious behavior. Through iterative training and validation, the models learn to achieve high detection accuracy while maintaining lightweight performance. This module serves as the intelligence core of the DeepSecure intrusion detection system.</a:t>
            </a:r>
          </a:p>
          <a:p>
            <a:pPr marL="0" indent="0">
              <a:buNone/>
            </a:pPr>
            <a:endParaRPr lang="en-IN" dirty="0"/>
          </a:p>
        </p:txBody>
      </p:sp>
    </p:spTree>
    <p:extLst>
      <p:ext uri="{BB962C8B-B14F-4D97-AF65-F5344CB8AC3E}">
        <p14:creationId xmlns:p14="http://schemas.microsoft.com/office/powerpoint/2010/main" val="40506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6D2F61-DD4B-A662-5599-675BC3EFF1A8}"/>
              </a:ext>
            </a:extLst>
          </p:cNvPr>
          <p:cNvSpPr>
            <a:spLocks noGrp="1"/>
          </p:cNvSpPr>
          <p:nvPr>
            <p:ph idx="1"/>
          </p:nvPr>
        </p:nvSpPr>
        <p:spPr>
          <a:xfrm>
            <a:off x="668626" y="1838371"/>
            <a:ext cx="8596668" cy="3880773"/>
          </a:xfrm>
        </p:spPr>
        <p:txBody>
          <a:bodyPr/>
          <a:lstStyle/>
          <a:p>
            <a:pPr marL="0" indent="0">
              <a:lnSpc>
                <a:spcPct val="150000"/>
              </a:lnSpc>
              <a:buNone/>
            </a:pPr>
            <a:r>
              <a:rPr lang="en-US" b="1" dirty="0">
                <a:solidFill>
                  <a:schemeClr val="tx1"/>
                </a:solidFill>
              </a:rPr>
              <a:t>Module 3: Real-Time Intrusion Detection</a:t>
            </a:r>
          </a:p>
          <a:p>
            <a:pPr marL="0" indent="0">
              <a:lnSpc>
                <a:spcPct val="150000"/>
              </a:lnSpc>
              <a:buNone/>
            </a:pPr>
            <a:r>
              <a:rPr lang="en-US" dirty="0">
                <a:solidFill>
                  <a:schemeClr val="tx1"/>
                </a:solidFill>
              </a:rPr>
              <a:t>This module simulates real-time network monitoring by processing incoming traffic records sequentially. Each data instance undergoes preprocessing before being immediately classified by the trained machine learning model. The system generates a detection decision along with a confidence score, enabling rapid identification of suspicious activities. This real-time detection capability ensures timely responses to potential cyber threats and enhances network security.</a:t>
            </a:r>
          </a:p>
          <a:p>
            <a:pPr marL="0" indent="0">
              <a:buNone/>
            </a:pPr>
            <a:endParaRPr lang="en-IN" dirty="0"/>
          </a:p>
        </p:txBody>
      </p:sp>
    </p:spTree>
    <p:extLst>
      <p:ext uri="{BB962C8B-B14F-4D97-AF65-F5344CB8AC3E}">
        <p14:creationId xmlns:p14="http://schemas.microsoft.com/office/powerpoint/2010/main" val="3688883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92C0A7-6C36-B153-BF35-62E6E31E5BAD}"/>
              </a:ext>
            </a:extLst>
          </p:cNvPr>
          <p:cNvSpPr>
            <a:spLocks noGrp="1"/>
          </p:cNvSpPr>
          <p:nvPr>
            <p:ph idx="1"/>
          </p:nvPr>
        </p:nvSpPr>
        <p:spPr>
          <a:xfrm>
            <a:off x="677334" y="1890624"/>
            <a:ext cx="8596668" cy="3880773"/>
          </a:xfrm>
        </p:spPr>
        <p:txBody>
          <a:bodyPr/>
          <a:lstStyle/>
          <a:p>
            <a:pPr marL="0" indent="0">
              <a:lnSpc>
                <a:spcPct val="150000"/>
              </a:lnSpc>
              <a:buNone/>
            </a:pPr>
            <a:r>
              <a:rPr lang="en-US" b="1" dirty="0">
                <a:solidFill>
                  <a:schemeClr val="tx1"/>
                </a:solidFill>
              </a:rPr>
              <a:t>Module 4: Alerting and Visualization</a:t>
            </a:r>
          </a:p>
          <a:p>
            <a:pPr marL="0" indent="0">
              <a:lnSpc>
                <a:spcPct val="150000"/>
              </a:lnSpc>
              <a:buNone/>
            </a:pPr>
            <a:r>
              <a:rPr lang="en-US" dirty="0">
                <a:solidFill>
                  <a:schemeClr val="tx1"/>
                </a:solidFill>
              </a:rPr>
              <a:t>The final module focuses on presenting detection results in a clear and actionable manner. Identified intrusions are logged and displayed through an intuitive visualization dashboard that highlights traffic status, alerts, and summary statistics. This allows network administrators to quickly interpret security events and prioritize responses. By integrating detection and visualization into a unified interface, the system improves operational efficiency and real-world usability.</a:t>
            </a:r>
          </a:p>
          <a:p>
            <a:pPr marL="0" indent="0">
              <a:buNone/>
            </a:pPr>
            <a:endParaRPr lang="en-IN" dirty="0"/>
          </a:p>
        </p:txBody>
      </p:sp>
    </p:spTree>
    <p:extLst>
      <p:ext uri="{BB962C8B-B14F-4D97-AF65-F5344CB8AC3E}">
        <p14:creationId xmlns:p14="http://schemas.microsoft.com/office/powerpoint/2010/main" val="3937184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5F1E-AEC6-DE45-A7EE-6DF553382949}"/>
              </a:ext>
            </a:extLst>
          </p:cNvPr>
          <p:cNvSpPr>
            <a:spLocks noGrp="1"/>
          </p:cNvSpPr>
          <p:nvPr>
            <p:ph type="title"/>
          </p:nvPr>
        </p:nvSpPr>
        <p:spPr/>
        <p:txBody>
          <a:bodyPr/>
          <a:lstStyle/>
          <a:p>
            <a:r>
              <a:rPr lang="en-US" dirty="0"/>
              <a:t>Research Gaps to Be Solved</a:t>
            </a:r>
          </a:p>
        </p:txBody>
      </p:sp>
      <p:sp>
        <p:nvSpPr>
          <p:cNvPr id="3" name="Content Placeholder 2">
            <a:extLst>
              <a:ext uri="{FF2B5EF4-FFF2-40B4-BE49-F238E27FC236}">
                <a16:creationId xmlns:a16="http://schemas.microsoft.com/office/drawing/2014/main" id="{CC06D9FE-77E3-4544-A97A-A272074DC538}"/>
              </a:ext>
            </a:extLst>
          </p:cNvPr>
          <p:cNvSpPr>
            <a:spLocks noGrp="1"/>
          </p:cNvSpPr>
          <p:nvPr>
            <p:ph idx="1"/>
          </p:nvPr>
        </p:nvSpPr>
        <p:spPr>
          <a:xfrm>
            <a:off x="253127" y="1670395"/>
            <a:ext cx="11624645" cy="5003782"/>
          </a:xfrm>
        </p:spPr>
        <p:txBody>
          <a:bodyPr>
            <a:noAutofit/>
          </a:bodyPr>
          <a:lstStyle/>
          <a:p>
            <a:r>
              <a:rPr lang="en-US" sz="1600" b="1" dirty="0"/>
              <a:t>1.⁠ ⁠Too complex to use in real life</a:t>
            </a:r>
          </a:p>
          <a:p>
            <a:pPr marL="0" indent="0">
              <a:buNone/>
            </a:pPr>
            <a:r>
              <a:rPr lang="en-US" sz="1600" dirty="0"/>
              <a:t>	Most modern IDS use heavy deep learning models. They are accurate but need high computing power and are 	hard to 	deploy.</a:t>
            </a:r>
          </a:p>
          <a:p>
            <a:r>
              <a:rPr lang="en-US" sz="1600" b="1" dirty="0"/>
              <a:t>2.⁠ ⁠Not focused on real-time detection</a:t>
            </a:r>
          </a:p>
          <a:p>
            <a:pPr marL="0" indent="0">
              <a:buNone/>
            </a:pPr>
            <a:r>
              <a:rPr lang="en-US" sz="1600" dirty="0"/>
              <a:t>	Many systems work only on offline </a:t>
            </a:r>
            <a:r>
              <a:rPr lang="en-US" sz="1600" dirty="0" err="1"/>
              <a:t>data.They</a:t>
            </a:r>
            <a:r>
              <a:rPr lang="en-US" sz="1600" dirty="0"/>
              <a:t> don’t detect attacks instantly, which is critical in real networks.</a:t>
            </a:r>
          </a:p>
          <a:p>
            <a:r>
              <a:rPr lang="en-US" sz="1600" b="1" dirty="0"/>
              <a:t>3.⁠ ⁠Hard to understand alerts</a:t>
            </a:r>
          </a:p>
          <a:p>
            <a:pPr marL="0" indent="0">
              <a:buNone/>
            </a:pPr>
            <a:r>
              <a:rPr lang="en-US" sz="1600" dirty="0"/>
              <a:t>	AI-based IDS often act like black boxes. Admins get predictions but no clear explanation of threats.</a:t>
            </a:r>
          </a:p>
          <a:p>
            <a:r>
              <a:rPr lang="en-US" sz="1600" b="1" dirty="0"/>
              <a:t>4.⁠ ⁠Overdependence on deep learning</a:t>
            </a:r>
          </a:p>
          <a:p>
            <a:pPr marL="0" indent="0">
              <a:buNone/>
            </a:pPr>
            <a:r>
              <a:rPr lang="en-US" sz="1600" dirty="0"/>
              <a:t>	Researchers assume deep learning is necessary for new attacks. Simpler machine learning methods are often 	ignored despite being effective.</a:t>
            </a:r>
          </a:p>
          <a:p>
            <a:r>
              <a:rPr lang="en-US" sz="1600" b="1" dirty="0"/>
              <a:t>5.⁠ ⁠No complete end-to-end system</a:t>
            </a:r>
          </a:p>
          <a:p>
            <a:pPr marL="0" indent="0">
              <a:buNone/>
            </a:pPr>
            <a:r>
              <a:rPr lang="en-US" sz="1600" dirty="0"/>
              <a:t>	Most work focuses only on detection models. Alerting and visualization are rarely integrated.</a:t>
            </a:r>
          </a:p>
          <a:p>
            <a:r>
              <a:rPr lang="en-US" sz="1600" b="1" dirty="0"/>
              <a:t>6.⁠ ⁠Limited adaptability</a:t>
            </a:r>
          </a:p>
          <a:p>
            <a:pPr marL="0" indent="0">
              <a:buNone/>
            </a:pPr>
            <a:r>
              <a:rPr lang="en-US" sz="1600" dirty="0"/>
              <a:t>	Systems are tested on one dataset and not proven for other networks.</a:t>
            </a:r>
          </a:p>
        </p:txBody>
      </p:sp>
    </p:spTree>
    <p:extLst>
      <p:ext uri="{BB962C8B-B14F-4D97-AF65-F5344CB8AC3E}">
        <p14:creationId xmlns:p14="http://schemas.microsoft.com/office/powerpoint/2010/main" val="4147811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1A31A-A9A6-D648-AFCC-0CD73C378362}"/>
              </a:ext>
            </a:extLst>
          </p:cNvPr>
          <p:cNvSpPr>
            <a:spLocks noGrp="1"/>
          </p:cNvSpPr>
          <p:nvPr>
            <p:ph type="title"/>
          </p:nvPr>
        </p:nvSpPr>
        <p:spPr/>
        <p:txBody>
          <a:bodyPr/>
          <a:lstStyle/>
          <a:p>
            <a:r>
              <a:rPr lang="en-US" dirty="0"/>
              <a:t>NSL-KDD Dataset Overview</a:t>
            </a:r>
          </a:p>
        </p:txBody>
      </p:sp>
      <p:sp>
        <p:nvSpPr>
          <p:cNvPr id="3" name="Content Placeholder 2">
            <a:extLst>
              <a:ext uri="{FF2B5EF4-FFF2-40B4-BE49-F238E27FC236}">
                <a16:creationId xmlns:a16="http://schemas.microsoft.com/office/drawing/2014/main" id="{C73FAEE7-1428-A44B-BD24-2A3B2A0CB30F}"/>
              </a:ext>
            </a:extLst>
          </p:cNvPr>
          <p:cNvSpPr>
            <a:spLocks noGrp="1"/>
          </p:cNvSpPr>
          <p:nvPr>
            <p:ph idx="1"/>
          </p:nvPr>
        </p:nvSpPr>
        <p:spPr>
          <a:xfrm>
            <a:off x="677333" y="1820955"/>
            <a:ext cx="8666963" cy="4309879"/>
          </a:xfrm>
        </p:spPr>
        <p:txBody>
          <a:bodyPr>
            <a:normAutofit fontScale="92500" lnSpcReduction="20000"/>
          </a:bodyPr>
          <a:lstStyle/>
          <a:p>
            <a:r>
              <a:rPr lang="en-IN" sz="1600" dirty="0">
                <a:solidFill>
                  <a:schemeClr val="tx1"/>
                </a:solidFill>
              </a:rPr>
              <a:t>The NSL-KDD dataset is used to train, validate, and test the </a:t>
            </a:r>
            <a:r>
              <a:rPr lang="en-IN" sz="1600" dirty="0" err="1">
                <a:solidFill>
                  <a:schemeClr val="tx1"/>
                </a:solidFill>
              </a:rPr>
              <a:t>DeepSecure</a:t>
            </a:r>
            <a:r>
              <a:rPr lang="en-IN" sz="1600" dirty="0">
                <a:solidFill>
                  <a:schemeClr val="tx1"/>
                </a:solidFill>
              </a:rPr>
              <a:t> machine learning–based intrusion detection system.</a:t>
            </a:r>
          </a:p>
          <a:p>
            <a:r>
              <a:rPr lang="en-IN" sz="1600" dirty="0">
                <a:solidFill>
                  <a:schemeClr val="tx1"/>
                </a:solidFill>
              </a:rPr>
              <a:t>Each record in the dataset corresponds to a network connection or session, not an individual packet, making it suitable for flow-based intrusion detection.</a:t>
            </a:r>
          </a:p>
          <a:p>
            <a:r>
              <a:rPr lang="en-IN" sz="1600" dirty="0">
                <a:solidFill>
                  <a:schemeClr val="tx1"/>
                </a:solidFill>
              </a:rPr>
              <a:t>The dataset contains 41 carefully selected features that describe network </a:t>
            </a:r>
            <a:r>
              <a:rPr lang="en-IN" sz="1600" dirty="0" err="1">
                <a:solidFill>
                  <a:schemeClr val="tx1"/>
                </a:solidFill>
              </a:rPr>
              <a:t>behavior</a:t>
            </a:r>
            <a:r>
              <a:rPr lang="en-IN" sz="1600" dirty="0">
                <a:solidFill>
                  <a:schemeClr val="tx1"/>
                </a:solidFill>
              </a:rPr>
              <a:t>, including connection duration, protocol type, service used, byte transfer statistics, error rates, and host-based traffic features.</a:t>
            </a:r>
          </a:p>
          <a:p>
            <a:r>
              <a:rPr lang="en-IN" sz="1600" dirty="0">
                <a:solidFill>
                  <a:schemeClr val="tx1"/>
                </a:solidFill>
              </a:rPr>
              <a:t>Both normal network traffic and malicious traffic are included, allowing the model to learn patterns that distinguish attacks from legitimate activity.</a:t>
            </a:r>
          </a:p>
          <a:p>
            <a:r>
              <a:rPr lang="en-IN" sz="1600" dirty="0">
                <a:solidFill>
                  <a:schemeClr val="tx1"/>
                </a:solidFill>
              </a:rPr>
              <a:t>Attack records are </a:t>
            </a:r>
            <a:r>
              <a:rPr lang="en-IN" sz="1600" dirty="0" err="1">
                <a:solidFill>
                  <a:schemeClr val="tx1"/>
                </a:solidFill>
              </a:rPr>
              <a:t>labeled</a:t>
            </a:r>
            <a:r>
              <a:rPr lang="en-IN" sz="1600" dirty="0">
                <a:solidFill>
                  <a:schemeClr val="tx1"/>
                </a:solidFill>
              </a:rPr>
              <a:t> and categorized into four major classes: Denial of Service (DoS), Probe, Remote to Local (R2L), and User to Root (U2R).</a:t>
            </a:r>
          </a:p>
          <a:p>
            <a:r>
              <a:rPr lang="en-IN" sz="1600" dirty="0">
                <a:solidFill>
                  <a:schemeClr val="tx1"/>
                </a:solidFill>
              </a:rPr>
              <a:t>The dataset is divided into training and testing sets, enabling fair evaluation of model performance on unseen data.</a:t>
            </a:r>
          </a:p>
          <a:p>
            <a:r>
              <a:rPr lang="en-IN" sz="1600" dirty="0">
                <a:solidFill>
                  <a:schemeClr val="tx1"/>
                </a:solidFill>
              </a:rPr>
              <a:t>NSL-KDD supports binary classification for intrusion detection as well as multiclass classification for identifying different attack categories.</a:t>
            </a:r>
          </a:p>
          <a:p>
            <a:r>
              <a:rPr lang="en-IN" sz="1600" dirty="0">
                <a:solidFill>
                  <a:schemeClr val="tx1"/>
                </a:solidFill>
              </a:rPr>
              <a:t>Its structured and </a:t>
            </a:r>
            <a:r>
              <a:rPr lang="en-IN" sz="1600" dirty="0" err="1">
                <a:solidFill>
                  <a:schemeClr val="tx1"/>
                </a:solidFill>
              </a:rPr>
              <a:t>labeled</a:t>
            </a:r>
            <a:r>
              <a:rPr lang="en-IN" sz="1600" dirty="0">
                <a:solidFill>
                  <a:schemeClr val="tx1"/>
                </a:solidFill>
              </a:rPr>
              <a:t> nature makes it well-suited for machine learning-based IDS development and evaluation.</a:t>
            </a:r>
          </a:p>
        </p:txBody>
      </p:sp>
    </p:spTree>
    <p:extLst>
      <p:ext uri="{BB962C8B-B14F-4D97-AF65-F5344CB8AC3E}">
        <p14:creationId xmlns:p14="http://schemas.microsoft.com/office/powerpoint/2010/main" val="3935580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92C05-A134-B342-B5E8-4C533B00FA92}"/>
              </a:ext>
            </a:extLst>
          </p:cNvPr>
          <p:cNvSpPr>
            <a:spLocks noGrp="1"/>
          </p:cNvSpPr>
          <p:nvPr>
            <p:ph type="title"/>
          </p:nvPr>
        </p:nvSpPr>
        <p:spPr>
          <a:xfrm>
            <a:off x="677334" y="609600"/>
            <a:ext cx="8596668" cy="1045029"/>
          </a:xfrm>
        </p:spPr>
        <p:txBody>
          <a:bodyPr/>
          <a:lstStyle/>
          <a:p>
            <a:r>
              <a:rPr lang="en-US" dirty="0"/>
              <a:t>Attacks Identified using NSL-KDD dataset </a:t>
            </a:r>
          </a:p>
        </p:txBody>
      </p:sp>
      <p:sp>
        <p:nvSpPr>
          <p:cNvPr id="3" name="Content Placeholder 2">
            <a:extLst>
              <a:ext uri="{FF2B5EF4-FFF2-40B4-BE49-F238E27FC236}">
                <a16:creationId xmlns:a16="http://schemas.microsoft.com/office/drawing/2014/main" id="{3E027EFA-4E0A-6140-8A75-FC5DE5673D87}"/>
              </a:ext>
            </a:extLst>
          </p:cNvPr>
          <p:cNvSpPr>
            <a:spLocks noGrp="1"/>
          </p:cNvSpPr>
          <p:nvPr>
            <p:ph idx="1"/>
          </p:nvPr>
        </p:nvSpPr>
        <p:spPr>
          <a:xfrm>
            <a:off x="677334" y="1916749"/>
            <a:ext cx="8596668" cy="3880773"/>
          </a:xfrm>
        </p:spPr>
        <p:txBody>
          <a:bodyPr/>
          <a:lstStyle/>
          <a:p>
            <a:r>
              <a:rPr lang="en-IN" b="1" dirty="0">
                <a:solidFill>
                  <a:schemeClr val="tx1"/>
                </a:solidFill>
              </a:rPr>
              <a:t>Denial of Service (DoS) attacks</a:t>
            </a:r>
            <a:r>
              <a:rPr lang="en-IN" dirty="0">
                <a:solidFill>
                  <a:schemeClr val="tx1"/>
                </a:solidFill>
              </a:rPr>
              <a:t> aim to overwhelm network or system resources, causing services to become unavailable to legitimate users by flooding traffic or exploiting protocol weaknesses.</a:t>
            </a:r>
          </a:p>
          <a:p>
            <a:r>
              <a:rPr lang="en-IN" b="1" dirty="0">
                <a:solidFill>
                  <a:schemeClr val="tx1"/>
                </a:solidFill>
              </a:rPr>
              <a:t>Probe attacks</a:t>
            </a:r>
            <a:r>
              <a:rPr lang="en-IN" dirty="0">
                <a:solidFill>
                  <a:schemeClr val="tx1"/>
                </a:solidFill>
              </a:rPr>
              <a:t> focus on reconnaissance activities such as scanning hosts and ports to gather information about network topology, open services, and potential vulnerabilities.</a:t>
            </a:r>
          </a:p>
          <a:p>
            <a:r>
              <a:rPr lang="en-IN" b="1" dirty="0">
                <a:solidFill>
                  <a:schemeClr val="tx1"/>
                </a:solidFill>
              </a:rPr>
              <a:t>Remote to Local (R2L) attacks</a:t>
            </a:r>
            <a:r>
              <a:rPr lang="en-IN" dirty="0">
                <a:solidFill>
                  <a:schemeClr val="tx1"/>
                </a:solidFill>
              </a:rPr>
              <a:t> occur when an attacker without an account on the target system exploits vulnerabilities or weak credentials to gain local user access.</a:t>
            </a:r>
          </a:p>
          <a:p>
            <a:r>
              <a:rPr lang="en-IN" b="1" dirty="0">
                <a:solidFill>
                  <a:schemeClr val="tx1"/>
                </a:solidFill>
              </a:rPr>
              <a:t>User to Root (U2R) attacks</a:t>
            </a:r>
            <a:r>
              <a:rPr lang="en-IN" dirty="0">
                <a:solidFill>
                  <a:schemeClr val="tx1"/>
                </a:solidFill>
              </a:rPr>
              <a:t> involve a local user exploiting system flaws to escalate privileges and obtain root-level access, leading to complete system compromise.</a:t>
            </a:r>
          </a:p>
          <a:p>
            <a:endParaRPr lang="en-US" dirty="0"/>
          </a:p>
        </p:txBody>
      </p:sp>
    </p:spTree>
    <p:extLst>
      <p:ext uri="{BB962C8B-B14F-4D97-AF65-F5344CB8AC3E}">
        <p14:creationId xmlns:p14="http://schemas.microsoft.com/office/powerpoint/2010/main" val="1249483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C29C7-3C81-50C1-EC38-275EF78A49E6}"/>
              </a:ext>
            </a:extLst>
          </p:cNvPr>
          <p:cNvSpPr>
            <a:spLocks noGrp="1"/>
          </p:cNvSpPr>
          <p:nvPr>
            <p:ph type="title"/>
          </p:nvPr>
        </p:nvSpPr>
        <p:spPr/>
        <p:txBody>
          <a:bodyPr>
            <a:normAutofit/>
          </a:bodyPr>
          <a:lstStyle/>
          <a:p>
            <a:pPr algn="ctr"/>
            <a:r>
              <a:rPr lang="en-IN" sz="4400" b="1" dirty="0"/>
              <a:t>IMPLEMENTATION AND RESULTS </a:t>
            </a:r>
          </a:p>
        </p:txBody>
      </p:sp>
      <p:pic>
        <p:nvPicPr>
          <p:cNvPr id="4" name="Content Placeholder 3">
            <a:extLst>
              <a:ext uri="{FF2B5EF4-FFF2-40B4-BE49-F238E27FC236}">
                <a16:creationId xmlns:a16="http://schemas.microsoft.com/office/drawing/2014/main" id="{E06A49AB-F972-9747-B041-B9DBF847932F}"/>
              </a:ext>
            </a:extLst>
          </p:cNvPr>
          <p:cNvPicPr>
            <a:picLocks noGrp="1" noChangeAspect="1"/>
          </p:cNvPicPr>
          <p:nvPr>
            <p:ph idx="1"/>
          </p:nvPr>
        </p:nvPicPr>
        <p:blipFill>
          <a:blip r:embed="rId3"/>
          <a:stretch>
            <a:fillRect/>
          </a:stretch>
        </p:blipFill>
        <p:spPr>
          <a:xfrm>
            <a:off x="327819" y="1724298"/>
            <a:ext cx="4888614" cy="3183710"/>
          </a:xfrm>
          <a:prstGeom prst="rect">
            <a:avLst/>
          </a:prstGeom>
        </p:spPr>
      </p:pic>
      <p:pic>
        <p:nvPicPr>
          <p:cNvPr id="5" name="Picture 4">
            <a:extLst>
              <a:ext uri="{FF2B5EF4-FFF2-40B4-BE49-F238E27FC236}">
                <a16:creationId xmlns:a16="http://schemas.microsoft.com/office/drawing/2014/main" id="{FA56FBC6-5F84-7740-89EF-11685443983E}"/>
              </a:ext>
            </a:extLst>
          </p:cNvPr>
          <p:cNvPicPr>
            <a:picLocks noChangeAspect="1"/>
          </p:cNvPicPr>
          <p:nvPr/>
        </p:nvPicPr>
        <p:blipFill rotWithShape="1">
          <a:blip r:embed="rId4"/>
          <a:srcRect t="28264"/>
          <a:stretch/>
        </p:blipFill>
        <p:spPr>
          <a:xfrm>
            <a:off x="780384" y="5033553"/>
            <a:ext cx="4436049" cy="1615729"/>
          </a:xfrm>
          <a:prstGeom prst="rect">
            <a:avLst/>
          </a:prstGeom>
        </p:spPr>
      </p:pic>
      <p:pic>
        <p:nvPicPr>
          <p:cNvPr id="7" name="Picture 6">
            <a:extLst>
              <a:ext uri="{FF2B5EF4-FFF2-40B4-BE49-F238E27FC236}">
                <a16:creationId xmlns:a16="http://schemas.microsoft.com/office/drawing/2014/main" id="{D3F95D69-F0B7-484E-8B41-C565DD28B1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54715" y="1488281"/>
            <a:ext cx="1813645" cy="3827417"/>
          </a:xfrm>
          <a:prstGeom prst="rect">
            <a:avLst/>
          </a:prstGeom>
        </p:spPr>
      </p:pic>
      <p:pic>
        <p:nvPicPr>
          <p:cNvPr id="9" name="Picture 8">
            <a:extLst>
              <a:ext uri="{FF2B5EF4-FFF2-40B4-BE49-F238E27FC236}">
                <a16:creationId xmlns:a16="http://schemas.microsoft.com/office/drawing/2014/main" id="{420BCA66-5765-3041-A24C-4985902994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73486" y="3633596"/>
            <a:ext cx="3988525" cy="3188442"/>
          </a:xfrm>
          <a:prstGeom prst="rect">
            <a:avLst/>
          </a:prstGeom>
        </p:spPr>
      </p:pic>
      <p:pic>
        <p:nvPicPr>
          <p:cNvPr id="11" name="Picture 10">
            <a:extLst>
              <a:ext uri="{FF2B5EF4-FFF2-40B4-BE49-F238E27FC236}">
                <a16:creationId xmlns:a16="http://schemas.microsoft.com/office/drawing/2014/main" id="{3261C4FB-F8EC-4749-8310-42CA256FE6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26258" y="1391114"/>
            <a:ext cx="4436048" cy="2141504"/>
          </a:xfrm>
          <a:prstGeom prst="rect">
            <a:avLst/>
          </a:prstGeom>
        </p:spPr>
      </p:pic>
    </p:spTree>
    <p:extLst>
      <p:ext uri="{BB962C8B-B14F-4D97-AF65-F5344CB8AC3E}">
        <p14:creationId xmlns:p14="http://schemas.microsoft.com/office/powerpoint/2010/main" val="1423447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C29C7-3C81-50C1-EC38-275EF78A49E6}"/>
              </a:ext>
            </a:extLst>
          </p:cNvPr>
          <p:cNvSpPr>
            <a:spLocks noGrp="1"/>
          </p:cNvSpPr>
          <p:nvPr>
            <p:ph type="title"/>
          </p:nvPr>
        </p:nvSpPr>
        <p:spPr/>
        <p:txBody>
          <a:bodyPr>
            <a:normAutofit/>
          </a:bodyPr>
          <a:lstStyle/>
          <a:p>
            <a:pPr algn="ctr"/>
            <a:r>
              <a:rPr lang="en-IN" sz="4400" b="1" dirty="0"/>
              <a:t>IMPLEMENTATION AND RESULTS </a:t>
            </a:r>
          </a:p>
        </p:txBody>
      </p:sp>
      <p:sp>
        <p:nvSpPr>
          <p:cNvPr id="6" name="Content Placeholder 5">
            <a:extLst>
              <a:ext uri="{FF2B5EF4-FFF2-40B4-BE49-F238E27FC236}">
                <a16:creationId xmlns:a16="http://schemas.microsoft.com/office/drawing/2014/main" id="{4CB05E81-AF3E-374F-BB03-E7D51A80D8C6}"/>
              </a:ext>
            </a:extLst>
          </p:cNvPr>
          <p:cNvSpPr>
            <a:spLocks noGrp="1"/>
          </p:cNvSpPr>
          <p:nvPr>
            <p:ph idx="1"/>
          </p:nvPr>
        </p:nvSpPr>
        <p:spPr>
          <a:xfrm>
            <a:off x="903757" y="2160589"/>
            <a:ext cx="8919512" cy="3691571"/>
          </a:xfrm>
        </p:spPr>
        <p:txBody>
          <a:bodyPr>
            <a:normAutofit fontScale="25000" lnSpcReduction="20000"/>
          </a:bodyPr>
          <a:lstStyle/>
          <a:p>
            <a:pPr>
              <a:buFont typeface="Arial" panose="020B0604020202020204" pitchFamily="34" charset="0"/>
              <a:buChar char="•"/>
            </a:pPr>
            <a:r>
              <a:rPr lang="en-IN" sz="6400" dirty="0">
                <a:solidFill>
                  <a:schemeClr val="tx1"/>
                </a:solidFill>
              </a:rPr>
              <a:t>Left Section (Model Implementation):</a:t>
            </a:r>
            <a:br>
              <a:rPr lang="en-IN" sz="6400" dirty="0">
                <a:solidFill>
                  <a:schemeClr val="tx1"/>
                </a:solidFill>
              </a:rPr>
            </a:br>
            <a:r>
              <a:rPr lang="en-IN" sz="6400" dirty="0">
                <a:solidFill>
                  <a:schemeClr val="tx1"/>
                </a:solidFill>
              </a:rPr>
              <a:t>Displays the core Python implementation developed using modular scripts for data loading, pre-processing, feature selection, model training, and evaluation. The system is trained and tested on the NSL-KDD dataset, following a structured ML pipeline.</a:t>
            </a:r>
          </a:p>
          <a:p>
            <a:pPr>
              <a:buFont typeface="Arial" panose="020B0604020202020204" pitchFamily="34" charset="0"/>
              <a:buChar char="•"/>
            </a:pPr>
            <a:r>
              <a:rPr lang="en-IN" sz="6400" dirty="0">
                <a:solidFill>
                  <a:schemeClr val="tx1"/>
                </a:solidFill>
              </a:rPr>
              <a:t>Top Right (Live Capture Data):</a:t>
            </a:r>
            <a:br>
              <a:rPr lang="en-IN" sz="6400" dirty="0">
                <a:solidFill>
                  <a:schemeClr val="tx1"/>
                </a:solidFill>
              </a:rPr>
            </a:br>
            <a:r>
              <a:rPr lang="en-IN" sz="6400" dirty="0">
                <a:solidFill>
                  <a:schemeClr val="tx1"/>
                </a:solidFill>
              </a:rPr>
              <a:t>Shows network traffic captured in real time and stored in </a:t>
            </a:r>
            <a:r>
              <a:rPr lang="en-IN" sz="6400" dirty="0" err="1">
                <a:solidFill>
                  <a:schemeClr val="tx1"/>
                </a:solidFill>
              </a:rPr>
              <a:t>livecap.csv</a:t>
            </a:r>
            <a:r>
              <a:rPr lang="en-IN" sz="6400" dirty="0">
                <a:solidFill>
                  <a:schemeClr val="tx1"/>
                </a:solidFill>
              </a:rPr>
              <a:t>, containing features such as source/destination IPs, protocol, duration, and byte counts. This validates real-world data ingestion beyond offline datasets.</a:t>
            </a:r>
          </a:p>
          <a:p>
            <a:pPr>
              <a:buFont typeface="Arial" panose="020B0604020202020204" pitchFamily="34" charset="0"/>
              <a:buChar char="•"/>
            </a:pPr>
            <a:r>
              <a:rPr lang="en-IN" sz="6400" dirty="0">
                <a:solidFill>
                  <a:schemeClr val="tx1"/>
                </a:solidFill>
              </a:rPr>
              <a:t>Bottom Right (Live Detection Execution):</a:t>
            </a:r>
            <a:br>
              <a:rPr lang="en-IN" sz="6400" dirty="0">
                <a:solidFill>
                  <a:schemeClr val="tx1"/>
                </a:solidFill>
              </a:rPr>
            </a:br>
            <a:r>
              <a:rPr lang="en-IN" sz="6400" dirty="0">
                <a:solidFill>
                  <a:schemeClr val="tx1"/>
                </a:solidFill>
              </a:rPr>
              <a:t>Demonstrates the execution of the live intrusion detection module, where captured traffic is </a:t>
            </a:r>
            <a:r>
              <a:rPr lang="en-IN" sz="6400" dirty="0" err="1">
                <a:solidFill>
                  <a:schemeClr val="tx1"/>
                </a:solidFill>
              </a:rPr>
              <a:t>analyzed</a:t>
            </a:r>
            <a:r>
              <a:rPr lang="en-IN" sz="6400" dirty="0">
                <a:solidFill>
                  <a:schemeClr val="tx1"/>
                </a:solidFill>
              </a:rPr>
              <a:t> using the trained model. The system classifies traffic as </a:t>
            </a:r>
            <a:r>
              <a:rPr lang="en-IN" sz="6400" i="1" dirty="0">
                <a:solidFill>
                  <a:schemeClr val="tx1"/>
                </a:solidFill>
              </a:rPr>
              <a:t>normal</a:t>
            </a:r>
            <a:r>
              <a:rPr lang="en-IN" sz="6400" dirty="0">
                <a:solidFill>
                  <a:schemeClr val="tx1"/>
                </a:solidFill>
              </a:rPr>
              <a:t> or </a:t>
            </a:r>
            <a:r>
              <a:rPr lang="en-IN" sz="6400" i="1" dirty="0">
                <a:solidFill>
                  <a:schemeClr val="tx1"/>
                </a:solidFill>
              </a:rPr>
              <a:t>attack</a:t>
            </a:r>
            <a:r>
              <a:rPr lang="en-IN" sz="6400" dirty="0">
                <a:solidFill>
                  <a:schemeClr val="tx1"/>
                </a:solidFill>
              </a:rPr>
              <a:t> and generates alerts dynamically.</a:t>
            </a:r>
          </a:p>
          <a:p>
            <a:pPr>
              <a:buFont typeface="Arial" panose="020B0604020202020204" pitchFamily="34" charset="0"/>
              <a:buChar char="•"/>
            </a:pPr>
            <a:r>
              <a:rPr lang="en-IN" sz="6400" dirty="0">
                <a:solidFill>
                  <a:schemeClr val="tx1"/>
                </a:solidFill>
              </a:rPr>
              <a:t>Bottom Left (Evaluation Metrics):</a:t>
            </a:r>
            <a:br>
              <a:rPr lang="en-IN" sz="6400" dirty="0">
                <a:solidFill>
                  <a:schemeClr val="tx1"/>
                </a:solidFill>
              </a:rPr>
            </a:br>
            <a:r>
              <a:rPr lang="en-IN" sz="6400" dirty="0">
                <a:solidFill>
                  <a:schemeClr val="tx1"/>
                </a:solidFill>
              </a:rPr>
              <a:t>Presents classification results including precision, recall, F1-score, accuracy, and confusion matrix, indicating effective detection performance with balanced results across classes.</a:t>
            </a:r>
          </a:p>
          <a:p>
            <a:endParaRPr lang="en-US" dirty="0"/>
          </a:p>
        </p:txBody>
      </p:sp>
    </p:spTree>
    <p:extLst>
      <p:ext uri="{BB962C8B-B14F-4D97-AF65-F5344CB8AC3E}">
        <p14:creationId xmlns:p14="http://schemas.microsoft.com/office/powerpoint/2010/main" val="2031138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88A7-0309-9545-A2F3-BCC8B45EF51B}"/>
              </a:ext>
            </a:extLst>
          </p:cNvPr>
          <p:cNvSpPr>
            <a:spLocks noGrp="1"/>
          </p:cNvSpPr>
          <p:nvPr>
            <p:ph type="title"/>
          </p:nvPr>
        </p:nvSpPr>
        <p:spPr/>
        <p:txBody>
          <a:bodyPr/>
          <a:lstStyle/>
          <a:p>
            <a:r>
              <a:rPr lang="en-US" dirty="0"/>
              <a:t>Simulation and Evaluation Results</a:t>
            </a:r>
          </a:p>
        </p:txBody>
      </p:sp>
      <p:pic>
        <p:nvPicPr>
          <p:cNvPr id="4" name="Content Placeholder 3">
            <a:extLst>
              <a:ext uri="{FF2B5EF4-FFF2-40B4-BE49-F238E27FC236}">
                <a16:creationId xmlns:a16="http://schemas.microsoft.com/office/drawing/2014/main" id="{159FADD7-76B8-D844-9D97-4887B4E79D17}"/>
              </a:ext>
            </a:extLst>
          </p:cNvPr>
          <p:cNvPicPr>
            <a:picLocks noGrp="1" noChangeAspect="1"/>
          </p:cNvPicPr>
          <p:nvPr>
            <p:ph idx="1"/>
          </p:nvPr>
        </p:nvPicPr>
        <p:blipFill rotWithShape="1">
          <a:blip r:embed="rId2"/>
          <a:srcRect l="959" t="10462" r="1515" b="2989"/>
          <a:stretch/>
        </p:blipFill>
        <p:spPr>
          <a:xfrm>
            <a:off x="760287" y="2573518"/>
            <a:ext cx="8383713" cy="3344398"/>
          </a:xfrm>
          <a:prstGeom prst="rect">
            <a:avLst/>
          </a:prstGeom>
        </p:spPr>
      </p:pic>
      <p:sp>
        <p:nvSpPr>
          <p:cNvPr id="3" name="TextBox 2">
            <a:extLst>
              <a:ext uri="{FF2B5EF4-FFF2-40B4-BE49-F238E27FC236}">
                <a16:creationId xmlns:a16="http://schemas.microsoft.com/office/drawing/2014/main" id="{2D4A9A64-669D-6B42-B219-9702696EE841}"/>
              </a:ext>
            </a:extLst>
          </p:cNvPr>
          <p:cNvSpPr txBox="1"/>
          <p:nvPr/>
        </p:nvSpPr>
        <p:spPr>
          <a:xfrm>
            <a:off x="760287" y="2204186"/>
            <a:ext cx="2954655"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NSL-KDD Dataset(Results) </a:t>
            </a:r>
          </a:p>
        </p:txBody>
      </p:sp>
    </p:spTree>
    <p:extLst>
      <p:ext uri="{BB962C8B-B14F-4D97-AF65-F5344CB8AC3E}">
        <p14:creationId xmlns:p14="http://schemas.microsoft.com/office/powerpoint/2010/main" val="2043495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28F81-FD9C-F54B-BA64-4D06914CB6C4}"/>
              </a:ext>
            </a:extLst>
          </p:cNvPr>
          <p:cNvSpPr>
            <a:spLocks noGrp="1"/>
          </p:cNvSpPr>
          <p:nvPr>
            <p:ph type="title"/>
          </p:nvPr>
        </p:nvSpPr>
        <p:spPr/>
        <p:txBody>
          <a:bodyPr/>
          <a:lstStyle/>
          <a:p>
            <a:r>
              <a:rPr lang="en-US" dirty="0"/>
              <a:t>Simulation and Evaluation Results</a:t>
            </a:r>
          </a:p>
        </p:txBody>
      </p:sp>
      <p:sp>
        <p:nvSpPr>
          <p:cNvPr id="3" name="Content Placeholder 2">
            <a:extLst>
              <a:ext uri="{FF2B5EF4-FFF2-40B4-BE49-F238E27FC236}">
                <a16:creationId xmlns:a16="http://schemas.microsoft.com/office/drawing/2014/main" id="{FC75D163-A151-A641-8DBC-310373D6AF2F}"/>
              </a:ext>
            </a:extLst>
          </p:cNvPr>
          <p:cNvSpPr>
            <a:spLocks noGrp="1"/>
          </p:cNvSpPr>
          <p:nvPr>
            <p:ph idx="1"/>
          </p:nvPr>
        </p:nvSpPr>
        <p:spPr>
          <a:xfrm>
            <a:off x="677334" y="2160589"/>
            <a:ext cx="8497488" cy="3880773"/>
          </a:xfrm>
        </p:spPr>
        <p:txBody>
          <a:bodyPr>
            <a:normAutofit/>
          </a:bodyPr>
          <a:lstStyle/>
          <a:p>
            <a:r>
              <a:rPr lang="en-IN" sz="2000" dirty="0">
                <a:solidFill>
                  <a:schemeClr val="tx1"/>
                </a:solidFill>
              </a:rPr>
              <a:t>Our project achieved the most consistent and reliable performance using the Random Forest algorithm, delivering detection results close to the desired accuracy and recall levels. We also evaluated Logistic Regression, Support Vector Machine (SVM), and </a:t>
            </a:r>
            <a:r>
              <a:rPr lang="en-IN" sz="2000" dirty="0" err="1">
                <a:solidFill>
                  <a:schemeClr val="tx1"/>
                </a:solidFill>
              </a:rPr>
              <a:t>XGBoost</a:t>
            </a:r>
            <a:r>
              <a:rPr lang="en-IN" sz="2000" dirty="0">
                <a:solidFill>
                  <a:schemeClr val="tx1"/>
                </a:solidFill>
              </a:rPr>
              <a:t> to compare different learning approaches. Based on the comparative performance analysis across multiple evaluation metrics, Random Forest demonstrated superior stability and effectiveness, making it the most suitable algorithm for this intrusion detection task.</a:t>
            </a:r>
            <a:endParaRPr lang="en-US" sz="2000" dirty="0">
              <a:solidFill>
                <a:schemeClr val="tx1"/>
              </a:solidFill>
            </a:endParaRPr>
          </a:p>
        </p:txBody>
      </p:sp>
    </p:spTree>
    <p:extLst>
      <p:ext uri="{BB962C8B-B14F-4D97-AF65-F5344CB8AC3E}">
        <p14:creationId xmlns:p14="http://schemas.microsoft.com/office/powerpoint/2010/main" val="2035507145"/>
      </p:ext>
    </p:extLst>
  </p:cSld>
  <p:clrMapOvr>
    <a:masterClrMapping/>
  </p:clrMapOvr>
</p:sld>
</file>

<file path=ppt/theme/theme1.xml><?xml version="1.0" encoding="utf-8"?>
<a:theme xmlns:a="http://schemas.openxmlformats.org/drawingml/2006/main" name="Facet">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themeOverride>
</file>

<file path=docProps/app.xml><?xml version="1.0" encoding="utf-8"?>
<Properties xmlns="http://schemas.openxmlformats.org/officeDocument/2006/extended-properties" xmlns:vt="http://schemas.openxmlformats.org/officeDocument/2006/docPropsVTypes">
  <Template/>
  <TotalTime>319</TotalTime>
  <Words>1620</Words>
  <Application>Microsoft Macintosh PowerPoint</Application>
  <PresentationFormat>Widescreen</PresentationFormat>
  <Paragraphs>77</Paragraphs>
  <Slides>19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Times New Roman</vt:lpstr>
      <vt:lpstr>Trebuchet MS</vt:lpstr>
      <vt:lpstr>Wingdings 3</vt:lpstr>
      <vt:lpstr>Facet</vt:lpstr>
      <vt:lpstr>DeepSecure: AI Powered IDS for Real-Time Network Traffic</vt:lpstr>
      <vt:lpstr>PowerPoint Presentation</vt:lpstr>
      <vt:lpstr>INTRODUCTION</vt:lpstr>
      <vt:lpstr>PowerPoint Presentation</vt:lpstr>
      <vt:lpstr>PROBLEM STATEMENT </vt:lpstr>
      <vt:lpstr>RESEARCH OBJECTIVE</vt:lpstr>
      <vt:lpstr>PROPOSED SYSTEM OVERVIEW</vt:lpstr>
      <vt:lpstr>SYSTEM DIAGRAM</vt:lpstr>
      <vt:lpstr>MODULES</vt:lpstr>
      <vt:lpstr>PowerPoint Presentation</vt:lpstr>
      <vt:lpstr>PowerPoint Presentation</vt:lpstr>
      <vt:lpstr>PowerPoint Presentation</vt:lpstr>
      <vt:lpstr>Research Gaps to Be Solved</vt:lpstr>
      <vt:lpstr>NSL-KDD Dataset Overview</vt:lpstr>
      <vt:lpstr>Attacks Identified using NSL-KDD dataset </vt:lpstr>
      <vt:lpstr>IMPLEMENTATION AND RESULTS </vt:lpstr>
      <vt:lpstr>IMPLEMENTATION AND RESULTS </vt:lpstr>
      <vt:lpstr>Simulation and Evaluation Results</vt:lpstr>
      <vt:lpstr>Simulation and Evaluation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DeepSecure: AI Powered IDS for Real-Time Network Traffic</dc:title>
  <dc:creator>Anagha Ravipati</dc:creator>
  <cp:lastModifiedBy>Microsoft Office User</cp:lastModifiedBy>
  <cp:revision>13</cp:revision>
  <dcterms:created xsi:type="dcterms:W3CDTF">2026-01-30T09:35:41Z</dcterms:created>
  <dcterms:modified xsi:type="dcterms:W3CDTF">2026-02-02T05:34:08Z</dcterms:modified>
</cp:coreProperties>
</file>